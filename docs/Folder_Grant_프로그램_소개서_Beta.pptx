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8DB1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업무 요청부터 권한 적용까지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B7C7D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API + Client 프로그램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91A6C4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91A6C4"/>
                </a:solidFill>
                <a:latin typeface="맑은 고딕"/>
                <a:ea typeface="맑은 고딕"/>
                <a:cs typeface="맑은 고딕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40"/>
            <a:ext cx="7498079" cy="1371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익숙한 BUS 업무 흐름에</a:t>
            </a:r>
          </a:p>
          <a:p>
            <a:pPr>
              <a:spcAft>
                <a:spcPts val="800"/>
              </a:spcAft>
              <a:def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서버 중심의 권한 처리를 더합니다.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60520"/>
            <a:ext cx="7040880" cy="11430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B7C7DF"/>
                </a:solidFill>
                <a:latin typeface="맑은 고딕"/>
                <a:ea typeface="맑은 고딕"/>
                <a:cs typeface="맑은 고딕"/>
              </a:defRPr>
            </a:pPr>
            <a:r>
              <a:t>권한 요청 조회 · 신규 프로젝트 생성 · 결과 확인 · BUS 완료</a:t>
            </a:r>
          </a:p>
          <a:p>
            <a:pPr>
              <a:spcAft>
                <a:spcPts val="800"/>
              </a:spcAft>
              <a:defRPr sz="1900" b="0">
                <a:solidFill>
                  <a:srgbClr val="B7C7DF"/>
                </a:solidFill>
                <a:latin typeface="맑은 고딕"/>
                <a:ea typeface="맑은 고딕"/>
                <a:cs typeface="맑은 고딕"/>
              </a:defRPr>
            </a:pPr>
            <a:r>
              <a:t>제한된 시험 대상에서 먼저 검증하는 Beta 릴리스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2423160"/>
            <a:ext cx="2606040" cy="2606040"/>
          </a:xfrm>
          <a:prstGeom prst="roundRect">
            <a:avLst>
              <a:gd name="adj" fmla="val 8000"/>
            </a:avLst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9408" y="2852928"/>
            <a:ext cx="2103120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BETA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703320"/>
            <a:ext cx="20116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API 0.4.0</a:t>
            </a:r>
          </a:p>
          <a:p>
            <a:pPr>
              <a:spcAft>
                <a:spcPts val="800"/>
              </a:spcAft>
              <a:def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Client 1.1.0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업무 화면과 권한 실행의 역할을 나눴습니다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사용자는 Client에서 요청을 확인하고, 서버는 정해진 정책으로 작업을 처리합니다.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36118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95728"/>
            <a:ext cx="319125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01  사용자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34639"/>
            <a:ext cx="319125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조회부터 완료까지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547872"/>
            <a:ext cx="3191256" cy="19202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BUS 조회·완료 흐름을 유지하고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수동·Excel 입력도 지원합니다.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194560"/>
            <a:ext cx="36118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2395728"/>
            <a:ext cx="319125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02  실행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834639"/>
            <a:ext cx="319125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권한 처리는 서버에서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547872"/>
            <a:ext cx="3191256" cy="19202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AD 그룹과 폴더 ACL 처리를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API 서버에서 수행합니다.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2194560"/>
            <a:ext cx="36118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2395728"/>
            <a:ext cx="319125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03  결과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834639"/>
            <a:ext cx="319125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단계별 이력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3547872"/>
            <a:ext cx="3191256" cy="19202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일부 단계가 실패해도 원인과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이전 성공 결과를 확인합니다.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두 프로그램이 하나의 업무 흐름을 만듭니다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Client는 BUS와 연동하고, API 서버는 AD·공유 폴더 작업과 이력 관리를 담당합니다.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03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11247120" cy="38115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BUS 완료는 API 작업 성공과 별개의 단계이며, 실제 성공이 확인된 요청만 처리합니다.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API와 Client의 역할이 명확합니다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배포·운영 담당자는 API를, 베타 사용자는 Client를 중심으로 확인합니다.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48840"/>
            <a:ext cx="548640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50008"/>
            <a:ext cx="506577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SERVER  / 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788920"/>
            <a:ext cx="506577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실행과 이력의 중심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502152"/>
            <a:ext cx="5065776" cy="2103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입력 검증 · 실행 계획 생성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권한 부여·해제 · 신규 프로젝트 생성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Job 상태 · 단계 결과 · 감사 기록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48840"/>
            <a:ext cx="548640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350008"/>
            <a:ext cx="506577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DESKTOP  / 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788920"/>
            <a:ext cx="506577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업무 요청의 시작과 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502152"/>
            <a:ext cx="5065776" cy="2103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BUS 조회 · 수동/Excel 입력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미리보기 · 선택 실행 · 중지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결과 확인 · 실제 성공 후 BUS 완료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처음 사용해도 작업 순서가 한눈에 보입니다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시작하면 연결과 요청 목록이 준비되고, 필요한 항목을 선택해 처리합니다.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21031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64592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1737360" cy="411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연결·로그인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58768"/>
            <a:ext cx="173736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API 확인과 BUS 로그인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377440"/>
            <a:ext cx="21031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606040"/>
            <a:ext cx="164592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291840"/>
            <a:ext cx="1737360" cy="411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요청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858768"/>
            <a:ext cx="173736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두 탭의 목록·상세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377440"/>
            <a:ext cx="21031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2606040"/>
            <a:ext cx="164592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91840"/>
            <a:ext cx="1737360" cy="411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미리보기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3858768"/>
            <a:ext cx="173736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대상과 계획을 먼저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377440"/>
            <a:ext cx="21031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2606040"/>
            <a:ext cx="164592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91840"/>
            <a:ext cx="1737360" cy="411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선택 실행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858768"/>
            <a:ext cx="173736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체크한 항목을 서버에서 처리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2377440"/>
            <a:ext cx="21031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0" y="2606040"/>
            <a:ext cx="164592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3291840"/>
            <a:ext cx="1737360" cy="411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완료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858768"/>
            <a:ext cx="173736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결과 검증 후 BUS 완료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1078992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23324A"/>
                </a:solidFill>
                <a:latin typeface="맑은 고딕"/>
                <a:ea typeface="맑은 고딕"/>
                <a:cs typeface="맑은 고딕"/>
              </a:defRPr>
            </a:pPr>
            <a:r>
              <a:t>베타 첫 실제 시험은 자동 BUS 완료를 끄고, 대상과 실제 권한을 확인한 뒤 완료 처리합니다.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권한 요청: 목록과 상세를 한 화면에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진행·종료, 권한 부여·해제 요청을 선택하고 결과를 확인합니다.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06</a:t>
            </a:r>
          </a:p>
        </p:txBody>
      </p:sp>
      <p:pic>
        <p:nvPicPr>
          <p:cNvPr id="7" name="Picture 6" descr="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5126330" cy="435254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97880" y="2194560"/>
            <a:ext cx="58064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08192" y="2395728"/>
            <a:ext cx="538581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CLIENT  /  권한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834639"/>
            <a:ext cx="538581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선택하고, 확인하고,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8192" y="3547872"/>
            <a:ext cx="5385816" cy="2057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수동 입력 → 엑셀 불러오기 → BUS 요청 조회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행을 선택하면 오른쪽에서 대상·진행·오류 확인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미리보기 / 선택 실행 / BUS 완료 재확인 / 중지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5943600"/>
            <a:ext cx="539496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화면은 실제 Qt 앱의 오프라인 샘플 데이터입니다.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신규 프로젝트: 같은 화면 구성으로 쉽게 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프로젝트를 선택하면 오른쪽 상세에서 원본 정보를 확인할 수 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07</a:t>
            </a:r>
          </a:p>
        </p:txBody>
      </p:sp>
      <p:pic>
        <p:nvPicPr>
          <p:cNvPr id="7" name="Picture 6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5126330" cy="435254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97880" y="2194560"/>
            <a:ext cx="58064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08192" y="2395728"/>
            <a:ext cx="538581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CLIENT  /  신규 프로젝트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834639"/>
            <a:ext cx="538581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그룹·폴더·기본 권한 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8192" y="3547872"/>
            <a:ext cx="5385816" cy="2057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수동 추가 또는 BUS 신규조회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템플릿 폴더 복사와 기본 ACL 설정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Dry Run 확인 후 실제 실행 · 결과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5943600"/>
            <a:ext cx="539496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화면은 샘플 데이터이며, 생성 작업은 서버에서 수행합니다.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미리보기, Mock, 실제 실행은 서로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검증 목적에 맞는 모드를 선택하고, Mock과 실제 실행용 DB는 분리합니다.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361188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95728"/>
            <a:ext cx="319125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34639"/>
            <a:ext cx="319125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미리보기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547872"/>
            <a:ext cx="3191256" cy="2057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실행 계획만 확인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실제 자원 변경 없음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Job 등록·BUS 완료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194560"/>
            <a:ext cx="361188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2395728"/>
            <a:ext cx="319125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SIMULATION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834639"/>
            <a:ext cx="319125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Mock 서버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547872"/>
            <a:ext cx="3191256" cy="2057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Job·DB·상태 흐름 점검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AD·ACL 변경 없음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BUS 완료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2194560"/>
            <a:ext cx="361188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2395728"/>
            <a:ext cx="319125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834639"/>
            <a:ext cx="319125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PowerShell 서버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3547872"/>
            <a:ext cx="3191256" cy="2057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실제 그룹·권한·폴더 변경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테스트 자원부터 검증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실제 성공 후 BUS 완료 가능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8DB1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성공 여부와 BUS 완료 여부를 구분합니다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B7C7DF"/>
                </a:solidFill>
                <a:latin typeface="맑은 고딕"/>
                <a:ea typeface="맑은 고딕"/>
                <a:cs typeface="맑은 고딕"/>
              </a:defRPr>
            </a:pPr>
            <a:r>
              <a:t>부분 성공과 조회 오류를 완료로 처리하지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91A6C4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91A6C4"/>
                </a:solidFill>
                <a:latin typeface="맑은 고딕"/>
                <a:ea typeface="맑은 고딕"/>
                <a:cs typeface="맑은 고딕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31720"/>
            <a:ext cx="3611880" cy="2468880"/>
          </a:xfrm>
          <a:prstGeom prst="roundRect">
            <a:avLst>
              <a:gd name="adj" fmla="val 8000"/>
            </a:avLst>
          </a:prstGeom>
          <a:solidFill>
            <a:srgbClr val="20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606040"/>
            <a:ext cx="3154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78DFBE"/>
                </a:solidFill>
                <a:latin typeface="맑은 고딕"/>
                <a:ea typeface="맑은 고딕"/>
                <a:cs typeface="맑은 고딕"/>
              </a:defRPr>
            </a:pPr>
            <a:r>
              <a:t>실제 성공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429000"/>
            <a:ext cx="3154680" cy="10058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BUS 원본 요청이면</a:t>
            </a:r>
          </a:p>
          <a:p>
            <a:pPr>
              <a:spcAft>
                <a:spcPts val="800"/>
              </a:spcAft>
              <a:def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완료 처리가 가능합니다.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31720"/>
            <a:ext cx="3611880" cy="2468880"/>
          </a:xfrm>
          <a:prstGeom prst="roundRect">
            <a:avLst>
              <a:gd name="adj" fmla="val 8000"/>
            </a:avLst>
          </a:prstGeom>
          <a:solidFill>
            <a:srgbClr val="20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606040"/>
            <a:ext cx="3154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FFC76C"/>
                </a:solidFill>
                <a:latin typeface="맑은 고딕"/>
                <a:ea typeface="맑은 고딕"/>
                <a:cs typeface="맑은 고딕"/>
              </a:defRPr>
            </a:pPr>
            <a:r>
              <a:t>부분 성공·실패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3429000"/>
            <a:ext cx="3154680" cy="10058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오류와 실제 권한을 확인한 뒤</a:t>
            </a:r>
          </a:p>
          <a:p>
            <a:pPr>
              <a:spcAft>
                <a:spcPts val="800"/>
              </a:spcAft>
              <a:def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원인을 조치합니다.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331720"/>
            <a:ext cx="3611880" cy="2468880"/>
          </a:xfrm>
          <a:prstGeom prst="roundRect">
            <a:avLst>
              <a:gd name="adj" fmla="val 8000"/>
            </a:avLst>
          </a:prstGeom>
          <a:solidFill>
            <a:srgbClr val="20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2606040"/>
            <a:ext cx="3154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9AB8FF"/>
                </a:solidFill>
                <a:latin typeface="맑은 고딕"/>
                <a:ea typeface="맑은 고딕"/>
                <a:cs typeface="맑은 고딕"/>
              </a:defRPr>
            </a:pPr>
            <a:r>
              <a:t>결과 확인 필요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3429000"/>
            <a:ext cx="3154680" cy="10058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기존 Job 상태를 확인하고</a:t>
            </a:r>
          </a:p>
          <a:p>
            <a:pPr>
              <a:spcAft>
                <a:spcPts val="800"/>
              </a:spcAft>
              <a:def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중복 실행을 피합니다.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349240"/>
            <a:ext cx="10789920" cy="685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D1DDEF"/>
                </a:solidFill>
                <a:latin typeface="맑은 고딕"/>
                <a:ea typeface="맑은 고딕"/>
                <a:cs typeface="맑은 고딕"/>
              </a:defRPr>
            </a:pPr>
            <a:r>
              <a:t>BUS 완료 재확인은 서버 결과를 확인한 뒤 BUS 완료만 시도하며, 권한 작업을 다시 실행하지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실패한 권한 작업은 원인 조치 후 재시도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같은 요청을 다시 보내는 것과 실패 단계를 재실행하는 것은 다릅니다.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361188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95728"/>
            <a:ext cx="319125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01  조사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34639"/>
            <a:ext cx="319125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실패 단계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547872"/>
            <a:ext cx="3191256" cy="1874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오른쪽 상세와 파일 로그에서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경로·오류·Job을 확인합니다.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194560"/>
            <a:ext cx="361188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2395728"/>
            <a:ext cx="319125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02 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834639"/>
            <a:ext cx="319125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원인을 먼저 해결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547872"/>
            <a:ext cx="3191256" cy="1874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누락 폴더·접근 권한 등을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서버 담당자와 점검합니다.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2194560"/>
            <a:ext cx="361188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2395728"/>
            <a:ext cx="319125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03  재시도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834639"/>
            <a:ext cx="319125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선택 실행 →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3547872"/>
            <a:ext cx="3191256" cy="1874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새 Job이 실패·미실행 단계를 처리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이전 성공 단계와 이력은 보존합니다.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대상: PowerShell 모드로 실행한 실패·부분 성공 권한 Job. 프로젝트·Mock·진행 중인 Job은 제외됩니다.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설치와 운영에 필요한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Client PC와 API 서버의 준비 항목을 각각 확인합니다.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48840"/>
            <a:ext cx="548640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50008"/>
            <a:ext cx="506577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사용 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788920"/>
            <a:ext cx="506577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Client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502152"/>
            <a:ext cx="5065776" cy="2103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Windows · Python 3.11+ · Chrome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BUS와 API 서버에 접속할 수 있는 네트워크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API Key · BUS 계정 · 로컬 로그 폴더 쓰기 권한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48840"/>
            <a:ext cx="548640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350008"/>
            <a:ext cx="506577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실행 서버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788920"/>
            <a:ext cx="506577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API 환경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502152"/>
            <a:ext cx="5065776" cy="2103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Windows · AD PowerShell 모듈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도메인 서비스 계정 · AD/공유/NTFS 권한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API 포트 · 템플릿 · DB/로그 백업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저장 계정·API Key는 평문 파일로 보관됩니다. 접근 범위를 제한하고 공유 배포본에 포함하지 마세요.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작은 범위부터 검증하며 베타를 시작합니다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참여 대상과 시험 자원을 정하고, 단계별로 실제 동작을 검증합니다.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40280"/>
            <a:ext cx="2679192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514600"/>
            <a:ext cx="2194560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91840"/>
            <a:ext cx="2267712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연결·계획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14800"/>
            <a:ext cx="2267712" cy="10058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Mock + Preview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입력·경로·정책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240280"/>
            <a:ext cx="2679192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2514600"/>
            <a:ext cx="2194560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3291840"/>
            <a:ext cx="2267712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실제 1건 시험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4114800"/>
            <a:ext cx="2267712" cy="10058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자동 완료 OFF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실제 AD·ACL 직접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240280"/>
            <a:ext cx="2679192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514600"/>
            <a:ext cx="2194560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291840"/>
            <a:ext cx="2267712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실패·복구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114800"/>
            <a:ext cx="2267712" cy="10058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부분 성공·시간 초과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재시도·BUS 완료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2240280"/>
            <a:ext cx="2679192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9448" y="2514600"/>
            <a:ext cx="2194560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3291840"/>
            <a:ext cx="2267712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제한된 베타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9448" y="4114800"/>
            <a:ext cx="2267712" cy="10058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대상·문의 경로 지정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로그와 사용자 의견 수집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25312"/>
            <a:ext cx="1078992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자동 테스트: API 60개 / Client 93개 통과. 실제 Windows·BUS·AD 연동은 별도로 시험해야 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8DB1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현재 제한을 알고, 다음 개선을 준비합니다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B7C7DF"/>
                </a:solidFill>
                <a:latin typeface="맑은 고딕"/>
                <a:ea typeface="맑은 고딕"/>
                <a:cs typeface="맑은 고딕"/>
              </a:defRPr>
            </a:pPr>
            <a:r>
              <a:t>자동 복구와 권한 분리는 후속 개선 과제입니다. 아래 항목은 구현이 끝난 기능이 아닙니다.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91A6C4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91A6C4"/>
                </a:solidFill>
                <a:latin typeface="맑은 고딕"/>
                <a:ea typeface="맑은 고딕"/>
                <a:cs typeface="맑은 고딕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5486400" cy="3611880"/>
          </a:xfrm>
          <a:prstGeom prst="roundRect">
            <a:avLst>
              <a:gd name="adj" fmla="val 8000"/>
            </a:avLst>
          </a:prstGeom>
          <a:solidFill>
            <a:srgbClr val="20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95728"/>
            <a:ext cx="506577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8DB1FF"/>
                </a:solidFill>
                <a:latin typeface="맑은 고딕"/>
                <a:ea typeface="맑은 고딕"/>
                <a:cs typeface="맑은 고딕"/>
              </a:defRPr>
            </a:pPr>
            <a:r>
              <a:t>현재 BETA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34639"/>
            <a:ext cx="506577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운영 시 알아둘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547872"/>
            <a:ext cx="5065776" cy="2103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D1DDEF"/>
                </a:solidFill>
                <a:latin typeface="맑은 고딕"/>
                <a:ea typeface="맑은 고딕"/>
                <a:cs typeface="맑은 고딕"/>
              </a:defRPr>
            </a:pPr>
            <a:r>
              <a:t>API 재시작 시 진행 중이던 Job 자동 복구 없음</a:t>
            </a:r>
          </a:p>
          <a:p>
            <a:pPr>
              <a:spcAft>
                <a:spcPts val="800"/>
              </a:spcAft>
              <a:defRPr sz="1600" b="0">
                <a:solidFill>
                  <a:srgbClr val="D1DDEF"/>
                </a:solidFill>
                <a:latin typeface="맑은 고딕"/>
                <a:ea typeface="맑은 고딕"/>
                <a:cs typeface="맑은 고딕"/>
              </a:defRPr>
            </a:pPr>
            <a:r>
              <a:t>취소는 단계 사이에서 확인 · 자동 롤백 없음</a:t>
            </a:r>
          </a:p>
          <a:p>
            <a:pPr>
              <a:spcAft>
                <a:spcPts val="800"/>
              </a:spcAft>
              <a:defRPr sz="1600" b="0">
                <a:solidFill>
                  <a:srgbClr val="D1DDEF"/>
                </a:solidFill>
                <a:latin typeface="맑은 고딕"/>
                <a:ea typeface="맑은 고딕"/>
                <a:cs typeface="맑은 고딕"/>
              </a:defRPr>
            </a:pPr>
            <a:r>
              <a:t>공유 API Key · 로그 보관/정리 수동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94560"/>
            <a:ext cx="5486400" cy="3611880"/>
          </a:xfrm>
          <a:prstGeom prst="roundRect">
            <a:avLst>
              <a:gd name="adj" fmla="val 8000"/>
            </a:avLst>
          </a:prstGeom>
          <a:solidFill>
            <a:srgbClr val="20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395728"/>
            <a:ext cx="506577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8DB1FF"/>
                </a:solidFill>
                <a:latin typeface="맑은 고딕"/>
                <a:ea typeface="맑은 고딕"/>
                <a:cs typeface="맑은 고딕"/>
              </a:defRPr>
            </a:pPr>
            <a:r>
              <a:t>개선 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834639"/>
            <a:ext cx="506577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t>검증 결과에 따라 우선순위를 정합니다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547872"/>
            <a:ext cx="5065776" cy="2103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D1DDEF"/>
                </a:solidFill>
                <a:latin typeface="맑은 고딕"/>
                <a:ea typeface="맑은 고딕"/>
                <a:cs typeface="맑은 고딕"/>
              </a:defRPr>
            </a:pPr>
            <a:r>
              <a:t>별도 Worker · 재시작 복구</a:t>
            </a:r>
          </a:p>
          <a:p>
            <a:pPr>
              <a:spcAft>
                <a:spcPts val="800"/>
              </a:spcAft>
              <a:defRPr sz="1600" b="0">
                <a:solidFill>
                  <a:srgbClr val="D1DDEF"/>
                </a:solidFill>
                <a:latin typeface="맑은 고딕"/>
                <a:ea typeface="맑은 고딕"/>
                <a:cs typeface="맑은 고딕"/>
              </a:defRPr>
            </a:pPr>
            <a:r>
              <a:t>사용자 인증·권한 분리 · 실행 동시성 관리</a:t>
            </a:r>
          </a:p>
          <a:p>
            <a:pPr>
              <a:spcAft>
                <a:spcPts val="800"/>
              </a:spcAft>
              <a:defRPr sz="1600" b="0">
                <a:solidFill>
                  <a:srgbClr val="D1DDEF"/>
                </a:solidFill>
                <a:latin typeface="맑은 고딕"/>
                <a:ea typeface="맑은 고딕"/>
                <a:cs typeface="맑은 고딕"/>
              </a:defRPr>
            </a:pPr>
            <a:r>
              <a:t>모니터링 · 로그 보관 · 배포 체계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FOLDER GRANT  /  BETA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1556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도입·운영·유지보수 자료를 함께 제공합니다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5608"/>
            <a:ext cx="11155680" cy="502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docs/ 폴더의 문서를 기준으로 설치하고, 베타 결과를 기록하세요.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058400" cy="20116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85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베타 소개  ·  2026-10-23  ·  API 0.4.0 / Client 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5029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548640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95728"/>
            <a:ext cx="506577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WORD  / 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34639"/>
            <a:ext cx="506577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API 설계·운영·유지보수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547872"/>
            <a:ext cx="5065776" cy="2103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구조와 정책 · API 계약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설정·서비스 배포 · 백업·장애 대응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변경 검증 · 베타 오픈 확인 목록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94560"/>
            <a:ext cx="548640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395728"/>
            <a:ext cx="5065776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962FF"/>
                </a:solidFill>
                <a:latin typeface="맑은 고딕"/>
                <a:ea typeface="맑은 고딕"/>
                <a:cs typeface="맑은 고딕"/>
              </a:defRPr>
            </a:pPr>
            <a:r>
              <a:t>WORD  /  DESKTOP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834639"/>
            <a:ext cx="5065776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4233D"/>
                </a:solidFill>
                <a:latin typeface="맑은 고딕"/>
                <a:ea typeface="맑은 고딕"/>
                <a:cs typeface="맑은 고딕"/>
              </a:defRPr>
            </a:pPr>
            <a:r>
              <a:t>Client 설계·사용·유지보수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547872"/>
            <a:ext cx="5065776" cy="2103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설치·로그인 · 화면·작업 절차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결과·재시도 · 로그·문제 해결</a:t>
            </a:r>
          </a:p>
          <a:p>
            <a:pPr>
              <a:spcAft>
                <a:spcPts val="800"/>
              </a:spcAft>
              <a:defRPr sz="16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내부 구조 · 변경 검증 · 참여 안내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0718A"/>
                </a:solidFill>
                <a:latin typeface="맑은 고딕"/>
                <a:ea typeface="맑은 고딕"/>
                <a:cs typeface="맑은 고딕"/>
              </a:defRPr>
            </a:pPr>
            <a:r>
              <a:t>피드백에는 발생 시각, 버전, 기대·실제 결과, request_id/job_id를 포함하되 키와 암호는 제거하세요.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맑은 고딕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맑은 고딕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Folder Grant API + Client Beta 프로그램 소개</dc:title>
  <dc:subject>프로그램 소개와 베타 도입 안내</dc:subject>
  <dc:creator>Folder Grant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