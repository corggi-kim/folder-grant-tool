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설명 기준: main ebbdfb9d4b8ffe09456bc2c9cc5c4dd4a16328d7 / 2026-10-26</a:t>
            </a:r>
          </a:p>
          <a:p>
            <a:r>
              <a:t>자동 시험과 실제 환경 인수 시험을 구분합니다. 구현되지 않은 과제를 완료로 설명하지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설명 기준: main ebbdfb9d4b8ffe09456bc2c9cc5c4dd4a16328d7 / 2026-10-26</a:t>
            </a:r>
          </a:p>
          <a:p>
            <a:r>
              <a:t>자동 시험과 실제 환경 인수 시험을 구분합니다. 구현되지 않은 과제를 완료로 설명하지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설명 기준: main ebbdfb9d4b8ffe09456bc2c9cc5c4dd4a16328d7 / 2026-10-26</a:t>
            </a:r>
          </a:p>
          <a:p>
            <a:r>
              <a:t>자동 시험과 실제 환경 인수 시험을 구분합니다. 구현되지 않은 과제를 완료로 설명하지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설명 기준: main ebbdfb9d4b8ffe09456bc2c9cc5c4dd4a16328d7 / 2026-10-26</a:t>
            </a:r>
          </a:p>
          <a:p>
            <a:r>
              <a:t>자동 시험과 실제 환경 인수 시험을 구분합니다. 구현되지 않은 과제를 완료로 설명하지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설명 기준: main ebbdfb9d4b8ffe09456bc2c9cc5c4dd4a16328d7 / 2026-10-26</a:t>
            </a:r>
          </a:p>
          <a:p>
            <a:r>
              <a:t>자동 시험과 실제 환경 인수 시험을 구분합니다. 구현되지 않은 과제를 완료로 설명하지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설명 기준: main ebbdfb9d4b8ffe09456bc2c9cc5c4dd4a16328d7 / 2026-10-26</a:t>
            </a:r>
          </a:p>
          <a:p>
            <a:r>
              <a:t>자동 시험과 실제 환경 인수 시험을 구분합니다. 구현되지 않은 과제를 완료로 설명하지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설명 기준: main ebbdfb9d4b8ffe09456bc2c9cc5c4dd4a16328d7 / 2026-10-26</a:t>
            </a:r>
          </a:p>
          <a:p>
            <a:r>
              <a:t>자동 시험과 실제 환경 인수 시험을 구분합니다. 구현되지 않은 과제를 완료로 설명하지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설명 기준: main ebbdfb9d4b8ffe09456bc2c9cc5c4dd4a16328d7 / 2026-10-26</a:t>
            </a:r>
          </a:p>
          <a:p>
            <a:r>
              <a:t>자동 시험과 실제 환경 인수 시험을 구분합니다. 구현되지 않은 과제를 완료로 설명하지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설명 기준: main ebbdfb9d4b8ffe09456bc2c9cc5c4dd4a16328d7 / 2026-10-26</a:t>
            </a:r>
          </a:p>
          <a:p>
            <a:r>
              <a:t>자동 시험과 실제 환경 인수 시험을 구분합니다. 구현되지 않은 과제를 완료로 설명하지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설명 기준: main ebbdfb9d4b8ffe09456bc2c9cc5c4dd4a16328d7 / 2026-10-26</a:t>
            </a:r>
          </a:p>
          <a:p>
            <a:r>
              <a:t>자동 시험과 실제 환경 인수 시험을 구분합니다. 구현되지 않은 과제를 완료로 설명하지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설명 기준: main ebbdfb9d4b8ffe09456bc2c9cc5c4dd4a16328d7 / 2026-10-26</a:t>
            </a:r>
          </a:p>
          <a:p>
            <a:r>
              <a:t>자동 시험과 실제 환경 인수 시험을 구분합니다. 구현되지 않은 과제를 완료로 설명하지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설명 기준: main ebbdfb9d4b8ffe09456bc2c9cc5c4dd4a16328d7 / 2026-10-26</a:t>
            </a:r>
          </a:p>
          <a:p>
            <a:r>
              <a:t>자동 시험과 실제 환경 인수 시험을 구분합니다. 구현되지 않은 과제를 완료로 설명하지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설명 기준: main ebbdfb9d4b8ffe09456bc2c9cc5c4dd4a16328d7 / 2026-10-26</a:t>
            </a:r>
          </a:p>
          <a:p>
            <a:r>
              <a:t>자동 시험과 실제 환경 인수 시험을 구분합니다. 구현되지 않은 과제를 완료로 설명하지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설명 기준: main ebbdfb9d4b8ffe09456bc2c9cc5c4dd4a16328d7 / 2026-10-26</a:t>
            </a:r>
          </a:p>
          <a:p>
            <a:r>
              <a:t>자동 시험과 실제 환경 인수 시험을 구분합니다. 구현되지 않은 과제를 완료로 설명하지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설명 기준: main ebbdfb9d4b8ffe09456bc2c9cc5c4dd4a16328d7 / 2026-10-26</a:t>
            </a:r>
          </a:p>
          <a:p>
            <a:r>
              <a:t>자동 시험과 실제 환경 인수 시험을 구분합니다. 구현되지 않은 과제를 완료로 설명하지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설명 기준: main ebbdfb9d4b8ffe09456bc2c9cc5c4dd4a16328d7 / 2026-10-26</a:t>
            </a:r>
          </a:p>
          <a:p>
            <a:r>
              <a:t>자동 시험과 실제 환경 인수 시험을 구분합니다. 구현되지 않은 과제를 완료로 설명하지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설명 기준: main ebbdfb9d4b8ffe09456bc2c9cc5c4dd4a16328d7 / 2026-10-26</a:t>
            </a:r>
          </a:p>
          <a:p>
            <a:r>
              <a:t>자동 시험과 실제 환경 인수 시험을 구분합니다. 구현되지 않은 과제를 완료로 설명하지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설명 기준: main ebbdfb9d4b8ffe09456bc2c9cc5c4dd4a16328d7 / 2026-10-26</a:t>
            </a:r>
          </a:p>
          <a:p>
            <a:r>
              <a:t>자동 시험과 실제 환경 인수 시험을 구분합니다. 구현되지 않은 과제를 완료로 설명하지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0584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8DB1FF"/>
                </a:solidFill>
                <a:latin typeface="Noto Sans CJK KR"/>
              </a:defRPr>
            </a:pPr>
            <a:r>
              <a:t>FOLDER GRANT  /  DEVELOPMENT COMPLETION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11155680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FFFFF"/>
                </a:solidFill>
                <a:latin typeface="Noto Sans CJK KR"/>
              </a:defRPr>
            </a:pPr>
            <a:r>
              <a:t>Folder Grant 개발 완료 보고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90472"/>
            <a:ext cx="1097280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B7C7DF"/>
                </a:solidFill>
                <a:latin typeface="Noto Sans CJK KR"/>
              </a:defRPr>
            </a:pPr>
            <a:r>
              <a:t>API 서버 + Windows Client  |  내부 오픈·운영 인수인계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0789920" cy="2011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B7C7DF"/>
                </a:solidFill>
                <a:latin typeface="Noto Sans CJK KR"/>
              </a:defRPr>
            </a:pPr>
            <a:r>
              <a:t>2026-10-26  ·  API 0.4.0 / Client V1.1.0 Build:20261022  ·  main ebbdfb9d4b8f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502920" cy="228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7C7DF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23160"/>
            <a:ext cx="9966960" cy="12344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3300" b="1">
                <a:solidFill>
                  <a:srgbClr val="FFFFFF"/>
                </a:solidFill>
                <a:latin typeface="Noto Sans CJK KR"/>
              </a:defRPr>
            </a:pPr>
            <a:r>
              <a:t>요청 확인부터 권한 적용,</a:t>
            </a:r>
          </a:p>
          <a:p>
            <a:pPr>
              <a:spcAft>
                <a:spcPts val="800"/>
              </a:spcAft>
              <a:defRPr sz="3300" b="1">
                <a:solidFill>
                  <a:srgbClr val="FFFFFF"/>
                </a:solidFill>
                <a:latin typeface="Noto Sans CJK KR"/>
              </a:defRPr>
            </a:pPr>
            <a:r>
              <a:t>BUS 완료까지 연결했습니다.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160520"/>
            <a:ext cx="9784080" cy="10058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B7C7DF"/>
                </a:solidFill>
                <a:latin typeface="Noto Sans CJK KR"/>
              </a:defRPr>
            </a:pPr>
            <a:r>
              <a:t>합의된 기능 구현과 자동 검증 결과를 정리하고</a:t>
            </a:r>
          </a:p>
          <a:p>
            <a:pPr>
              <a:spcAft>
                <a:spcPts val="800"/>
              </a:spcAft>
              <a:defRPr sz="2000" b="0">
                <a:solidFill>
                  <a:srgbClr val="B7C7DF"/>
                </a:solidFill>
                <a:latin typeface="Noto Sans CJK KR"/>
              </a:defRPr>
            </a:pPr>
            <a:r>
              <a:t>현장 인수·운영 전환에 필요한 기준을 전달합니다.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532120"/>
            <a:ext cx="10058400" cy="4572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8DB1FF"/>
                </a:solidFill>
                <a:latin typeface="Noto Sans CJK KR"/>
              </a:defRPr>
            </a:pPr>
            <a:r>
              <a:t>개발 범위 구현 완료  /  실제 환경 인수·오픈 승인은 별도 기록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0584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962FF"/>
                </a:solidFill>
                <a:latin typeface="Noto Sans CJK KR"/>
              </a:defRPr>
            </a:pPr>
            <a:r>
              <a:t>FOLDER GRANT  /  DEVELOPMENT COMPLETION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11155680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4233D"/>
                </a:solidFill>
                <a:latin typeface="Noto Sans CJK KR"/>
              </a:defRPr>
            </a:pPr>
            <a:r>
              <a:t>개발 목적과 완료 범위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90472"/>
            <a:ext cx="1097280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0718A"/>
                </a:solidFill>
                <a:latin typeface="Noto Sans CJK KR"/>
              </a:defRPr>
            </a:pPr>
            <a:r>
              <a:t>기존 BUS 업무 흐름을 유지하면서 권한 실행을 서버로 분리했습니다.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0789920" cy="2011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0718A"/>
                </a:solidFill>
                <a:latin typeface="Noto Sans CJK KR"/>
              </a:defRPr>
            </a:pPr>
            <a:r>
              <a:t>2026-10-26  ·  API 0.4.0 / Client V1.1.0 Build:20261022  ·  main ebbdfb9d4b8f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502920" cy="228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18A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40280"/>
            <a:ext cx="358140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441448"/>
            <a:ext cx="316077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01  업무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80360"/>
            <a:ext cx="316077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조회에서 완료까지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593592"/>
            <a:ext cx="3160776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권한·신규 프로젝트 요청 조회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수동·Excel 입력과 선택 실행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실제 성공 후 BUS 완료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3775" y="2240280"/>
            <a:ext cx="358140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4088" y="2441448"/>
            <a:ext cx="316077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02  서버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4088" y="2880360"/>
            <a:ext cx="316077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공통 실행 기준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4088" y="3593592"/>
            <a:ext cx="3160776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입력·정책 검증과 Job 이력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AD 그룹·폴더 ACL·프로젝트 생성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실패·부분 성공·재실행 구분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4632" y="2240280"/>
            <a:ext cx="358140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4944" y="2441448"/>
            <a:ext cx="316077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03  인수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4944" y="2880360"/>
            <a:ext cx="316077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운영 가능한 기록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4944" y="3593592"/>
            <a:ext cx="3160776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화면 요약 + 파일 상세 로그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설계·사용·운영·유지보수 문서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오픈·장애·백업 체크리스트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0584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962FF"/>
                </a:solidFill>
                <a:latin typeface="Noto Sans CJK KR"/>
              </a:defRPr>
            </a:pPr>
            <a:r>
              <a:t>FOLDER GRANT  /  DEVELOPMENT COMPLETION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11155680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4233D"/>
                </a:solidFill>
                <a:latin typeface="Noto Sans CJK KR"/>
              </a:defRPr>
            </a:pPr>
            <a:r>
              <a:t>구성: Client와 API의 책임을 분리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90472"/>
            <a:ext cx="1097280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0718A"/>
                </a:solidFill>
                <a:latin typeface="Noto Sans CJK KR"/>
              </a:defRPr>
            </a:pPr>
            <a:r>
              <a:t>BUS 연결은 Client가, 실제 AD·파일 권한 변경은 API 서버가 수행합니다.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0789920" cy="2011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0718A"/>
                </a:solidFill>
                <a:latin typeface="Noto Sans CJK KR"/>
              </a:defRPr>
            </a:pPr>
            <a:r>
              <a:t>2026-10-26  ·  API 0.4.0 / Client V1.1.0 Build:20261022  ·  main ebbdfb9d4b8f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502920" cy="228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18A"/>
                </a:solidFill>
                <a:latin typeface="Noto Sans CJK KR"/>
              </a:defRPr>
            </a:pPr>
            <a:r>
              <a:t>03</a:t>
            </a:r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48840"/>
            <a:ext cx="11155680" cy="37805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035040"/>
            <a:ext cx="1078992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962FF"/>
                </a:solidFill>
                <a:latin typeface="Noto Sans CJK KR"/>
              </a:defRPr>
            </a:pPr>
            <a:r>
              <a:t>SQLite는 Job·단계·감사를 보존합니다. BUS 완료 여부는 API 성공과 별도로 관리합니다.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0584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962FF"/>
                </a:solidFill>
                <a:latin typeface="Noto Sans CJK KR"/>
              </a:defRPr>
            </a:pPr>
            <a:r>
              <a:t>FOLDER GRANT  /  DEVELOPMENT COMPLETION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11155680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4233D"/>
                </a:solidFill>
                <a:latin typeface="Noto Sans CJK KR"/>
              </a:defRPr>
            </a:pPr>
            <a:r>
              <a:t>구현 완료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90472"/>
            <a:ext cx="1097280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0718A"/>
                </a:solidFill>
                <a:latin typeface="Noto Sans CJK KR"/>
              </a:defRPr>
            </a:pPr>
            <a:r>
              <a:t>현재 코드에 있는 기능과 후속 개선 과제를 구분합니다.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0789920" cy="2011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0718A"/>
                </a:solidFill>
                <a:latin typeface="Noto Sans CJK KR"/>
              </a:defRPr>
            </a:pPr>
            <a:r>
              <a:t>2026-10-26  ·  API 0.4.0 / Client V1.1.0 Build:20261022  ·  main ebbdfb9d4b8f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502920" cy="228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18A"/>
                </a:solidFill>
                <a:latin typeface="Noto Sans CJK KR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40280"/>
            <a:ext cx="5481828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441448"/>
            <a:ext cx="5061204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API 0.4.0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80360"/>
            <a:ext cx="5061204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실행·검증·이력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593592"/>
            <a:ext cx="5061204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실제 자원 읽기 전용 검증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권한 부여·해제 / 신규 생성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조회·취소·권한 실패 단계 재실행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4204" y="2240280"/>
            <a:ext cx="5481828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4516" y="2441448"/>
            <a:ext cx="5061204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CLIENT 1.1.0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4516" y="2880360"/>
            <a:ext cx="5061204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사용자 작업 흐름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4516" y="3593592"/>
            <a:ext cx="5061204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시작 연결·로그인·두 목록 준비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상세·실시간 단계·회전 표시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양쪽 탭 BUS 완료 재확인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0584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962FF"/>
                </a:solidFill>
                <a:latin typeface="Noto Sans CJK KR"/>
              </a:defRPr>
            </a:pPr>
            <a:r>
              <a:t>FOLDER GRANT  /  DEVELOPMENT COMPLETION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11155680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4233D"/>
                </a:solidFill>
                <a:latin typeface="Noto Sans CJK KR"/>
              </a:defRPr>
            </a:pPr>
            <a:r>
              <a:t>권한 요청: 대상을 확인하고 처리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90472"/>
            <a:ext cx="1097280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0718A"/>
                </a:solidFill>
                <a:latin typeface="Noto Sans CJK KR"/>
              </a:defRPr>
            </a:pPr>
            <a:r>
              <a:t>BUS 요청은 읽기 전용, 수동·Excel 요청만 목록 편집이 가능합니다.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0789920" cy="2011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0718A"/>
                </a:solidFill>
                <a:latin typeface="Noto Sans CJK KR"/>
              </a:defRPr>
            </a:pPr>
            <a:r>
              <a:t>2026-10-26  ·  API 0.4.0 / Client V1.1.0 Build:20261022  ·  main ebbdfb9d4b8f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502920" cy="228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18A"/>
                </a:solidFill>
                <a:latin typeface="Noto Sans CJK KR"/>
              </a:defRPr>
            </a:pPr>
            <a:r>
              <a:t>05</a:t>
            </a:r>
          </a:p>
        </p:txBody>
      </p:sp>
      <p:pic>
        <p:nvPicPr>
          <p:cNvPr id="7" name="Picture 6" descr="a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57400"/>
            <a:ext cx="4792472" cy="4069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577840" y="2194560"/>
            <a:ext cx="608076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88152" y="2395728"/>
            <a:ext cx="566013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실제 Qt 화면 / 오프라인 샘플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88152" y="2834639"/>
            <a:ext cx="566013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선택·검증·실행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88152" y="3547872"/>
            <a:ext cx="5660136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체크한 항목을 순차 처리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시작 시 처리 행을 자동 선택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그룹·폴더·BUS 단계 상태 확인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우클릭 삭제는 화면 목록만 제거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254496"/>
            <a:ext cx="10789920" cy="1828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18A"/>
                </a:solidFill>
                <a:latin typeface="Noto Sans CJK KR"/>
              </a:defRPr>
            </a:pPr>
            <a:r>
              <a:t>샘플 화면이며 실제 BUS·AD에 연결하거나 권한 작업을 수행한 증거는 아닙니다.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0584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962FF"/>
                </a:solidFill>
                <a:latin typeface="Noto Sans CJK KR"/>
              </a:defRPr>
            </a:pPr>
            <a:r>
              <a:t>FOLDER GRANT  /  DEVELOPMENT COMPLETION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11155680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4233D"/>
                </a:solidFill>
                <a:latin typeface="Noto Sans CJK KR"/>
              </a:defRPr>
            </a:pPr>
            <a:r>
              <a:t>신규 프로젝트: 생성 단계와 원본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90472"/>
            <a:ext cx="1097280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0718A"/>
                </a:solidFill>
                <a:latin typeface="Noto Sans CJK KR"/>
              </a:defRPr>
            </a:pPr>
            <a:r>
              <a:t>생성 준비부터 결과·BUS 완료까지 한 화면에서 확인합니다.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0789920" cy="2011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0718A"/>
                </a:solidFill>
                <a:latin typeface="Noto Sans CJK KR"/>
              </a:defRPr>
            </a:pPr>
            <a:r>
              <a:t>2026-10-26  ·  API 0.4.0 / Client V1.1.0 Build:20261022  ·  main ebbdfb9d4b8f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502920" cy="228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18A"/>
                </a:solidFill>
                <a:latin typeface="Noto Sans CJK KR"/>
              </a:defRPr>
            </a:pPr>
            <a:r>
              <a:t>06</a:t>
            </a:r>
          </a:p>
        </p:txBody>
      </p:sp>
      <p:pic>
        <p:nvPicPr>
          <p:cNvPr id="7" name="Picture 6" descr="proj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57400"/>
            <a:ext cx="4792472" cy="4069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577840" y="2194560"/>
            <a:ext cx="608076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88152" y="2395728"/>
            <a:ext cx="566013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실제 Qt 화면 / 오프라인 샘플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88152" y="2834639"/>
            <a:ext cx="566013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공통 구조와 상세 정보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88152" y="3547872"/>
            <a:ext cx="5660136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코드·이름·상태 중심 요약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공통 상세 열 토글로 원본 표시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서버 6단계 + 요청·BUS 진행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긴 오류·요청번호는 스크롤·복사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254496"/>
            <a:ext cx="10789920" cy="1828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18A"/>
                </a:solidFill>
                <a:latin typeface="Noto Sans CJK KR"/>
              </a:defRPr>
            </a:pPr>
            <a:r>
              <a:t>샘플 화면이며 실제 BUS·AD에 연결하거나 권한 작업을 수행한 증거는 아닙니다.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0584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962FF"/>
                </a:solidFill>
                <a:latin typeface="Noto Sans CJK KR"/>
              </a:defRPr>
            </a:pPr>
            <a:r>
              <a:t>FOLDER GRANT  /  DEVELOPMENT COMPLETION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11155680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4233D"/>
                </a:solidFill>
                <a:latin typeface="Noto Sans CJK KR"/>
              </a:defRPr>
            </a:pPr>
            <a:r>
              <a:t>요청 검증·Preview·실제 실행의 구분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90472"/>
            <a:ext cx="1097280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0718A"/>
                </a:solidFill>
                <a:latin typeface="Noto Sans CJK KR"/>
              </a:defRPr>
            </a:pPr>
            <a:r>
              <a:t>현재 화면의 요청 검증 버튼은 /validate를 호출합니다.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0789920" cy="2011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0718A"/>
                </a:solidFill>
                <a:latin typeface="Noto Sans CJK KR"/>
              </a:defRPr>
            </a:pPr>
            <a:r>
              <a:t>2026-10-26  ·  API 0.4.0 / Client V1.1.0 Build:20261022  ·  main ebbdfb9d4b8f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502920" cy="228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18A"/>
                </a:solidFill>
                <a:latin typeface="Noto Sans CJK KR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40280"/>
            <a:ext cx="358140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441448"/>
            <a:ext cx="316077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READ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80360"/>
            <a:ext cx="316077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요청 검증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593592"/>
            <a:ext cx="3160776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실제 사용자·그룹·요청 폴더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현재 ACL·생성 준비 상태 조회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Job 등록·권한·BUS 변경 없음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3775" y="2240280"/>
            <a:ext cx="358140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4088" y="2441448"/>
            <a:ext cx="316077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DEVELOPMENT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4088" y="2880360"/>
            <a:ext cx="316077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Preview / Mock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4088" y="3593592"/>
            <a:ext cx="3160776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Preview: 실행 계획만 계산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Mock: Job·DB 흐름 모의 실행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실제 검증·변경·BUS 완료 없음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4632" y="2240280"/>
            <a:ext cx="358140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4944" y="2441448"/>
            <a:ext cx="316077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POWERSHELL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4944" y="2880360"/>
            <a:ext cx="316077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선택 실행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4944" y="3593592"/>
            <a:ext cx="3160776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서버 서비스 계정으로 변경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그룹·ACL 또는 프로젝트 생성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최종 실제 성공을 별도로 확인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0584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962FF"/>
                </a:solidFill>
                <a:latin typeface="Noto Sans CJK KR"/>
              </a:defRPr>
            </a:pPr>
            <a:r>
              <a:t>FOLDER GRANT  /  DEVELOPMENT COMPLETION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11155680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4233D"/>
                </a:solidFill>
                <a:latin typeface="Noto Sans CJK KR"/>
              </a:defRPr>
            </a:pPr>
            <a:r>
              <a:t>진행 상태를 결과와 혼동하지 않도록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90472"/>
            <a:ext cx="1097280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0718A"/>
                </a:solidFill>
                <a:latin typeface="Noto Sans CJK KR"/>
              </a:defRPr>
            </a:pPr>
            <a:r>
              <a:t>서버 조회 응답을 기준으로 표시하며 애니메이션은 처리 중임을 뜻합니다.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0789920" cy="2011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0718A"/>
                </a:solidFill>
                <a:latin typeface="Noto Sans CJK KR"/>
              </a:defRPr>
            </a:pPr>
            <a:r>
              <a:t>2026-10-26  ·  API 0.4.0 / Client V1.1.0 Build:20261022  ·  main ebbdfb9d4b8f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502920" cy="228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18A"/>
                </a:solidFill>
                <a:latin typeface="Noto Sans CJK KR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40280"/>
            <a:ext cx="5481828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441448"/>
            <a:ext cx="5061204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PROGRESS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80360"/>
            <a:ext cx="5061204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실시간 상세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593592"/>
            <a:ext cx="5061204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각 요청 시작 시 해당 행 표시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서버 단계에 맞춰 회전·체크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다른 행을 선택해 상세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4204" y="2240280"/>
            <a:ext cx="5481828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4516" y="2441448"/>
            <a:ext cx="5061204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4516" y="2880360"/>
            <a:ext cx="5061204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결과 보존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4516" y="3593592"/>
            <a:ext cx="5061204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검증·라이브 진행·실제 Job 분리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모의·미실행·실패·중지 구분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타이머는 새 작업마다 초기화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0584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962FF"/>
                </a:solidFill>
                <a:latin typeface="Noto Sans CJK KR"/>
              </a:defRPr>
            </a:pPr>
            <a:r>
              <a:t>FOLDER GRANT  /  DEVELOPMENT COMPLETION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11155680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4233D"/>
                </a:solidFill>
                <a:latin typeface="Noto Sans CJK KR"/>
              </a:defRPr>
            </a:pPr>
            <a:r>
              <a:t>BUS 완료는 실제 성공 뒤에만 수행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90472"/>
            <a:ext cx="1097280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0718A"/>
                </a:solidFill>
                <a:latin typeface="Noto Sans CJK KR"/>
              </a:defRPr>
            </a:pPr>
            <a:r>
              <a:t>두 탭 모두 BUS 완료 재확인으로 최신 서버 결과를 다시 조회합니다.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0789920" cy="2011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0718A"/>
                </a:solidFill>
                <a:latin typeface="Noto Sans CJK KR"/>
              </a:defRPr>
            </a:pPr>
            <a:r>
              <a:t>2026-10-26  ·  API 0.4.0 / Client V1.1.0 Build:20261022  ·  main ebbdfb9d4b8f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502920" cy="228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18A"/>
                </a:solidFill>
                <a:latin typeface="Noto Sans CJK KR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40280"/>
            <a:ext cx="358140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441448"/>
            <a:ext cx="316077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허용 조건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80360"/>
            <a:ext cx="316077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원본·실제 성공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593592"/>
            <a:ext cx="3160776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BUS 원본 요청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powershell + succeeded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응답의 대상 일치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3775" y="2240280"/>
            <a:ext cx="358140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4088" y="2441448"/>
            <a:ext cx="316077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보류 조건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4088" y="2880360"/>
            <a:ext cx="316077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불확실하면 멈춤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4088" y="3593592"/>
            <a:ext cx="3160776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부분 성공·실패·중지·Mock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조회 오류·요청 불일치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과거 성공 캐시로 우회 금지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4632" y="2240280"/>
            <a:ext cx="358140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4944" y="2441448"/>
            <a:ext cx="316077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수행 범위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4944" y="2880360"/>
            <a:ext cx="316077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완료만 재확인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4944" y="3593592"/>
            <a:ext cx="3160776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권한 Job 재등록 안 함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프로젝트 재생성 안 함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자동 완료 OFF여도 사용 가능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0584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962FF"/>
                </a:solidFill>
                <a:latin typeface="Noto Sans CJK KR"/>
              </a:defRPr>
            </a:pPr>
            <a:r>
              <a:t>FOLDER GRANT  /  DEVELOPMENT COMPLETION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11155680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4233D"/>
                </a:solidFill>
                <a:latin typeface="Noto Sans CJK KR"/>
              </a:defRPr>
            </a:pPr>
            <a:r>
              <a:t>실패한 권한 작업의 복구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90472"/>
            <a:ext cx="1097280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0718A"/>
                </a:solidFill>
                <a:latin typeface="Noto Sans CJK KR"/>
              </a:defRPr>
            </a:pPr>
            <a:r>
              <a:t>원인을 먼저 조치하고, 명시적 재실행으로 이력을 보존합니다.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0789920" cy="2011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0718A"/>
                </a:solidFill>
                <a:latin typeface="Noto Sans CJK KR"/>
              </a:defRPr>
            </a:pPr>
            <a:r>
              <a:t>2026-10-26  ·  API 0.4.0 / Client V1.1.0 Build:20261022  ·  main ebbdfb9d4b8f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502920" cy="228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18A"/>
                </a:solidFill>
                <a:latin typeface="Noto Sans CJK KR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40280"/>
            <a:ext cx="358140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441448"/>
            <a:ext cx="316077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01  조사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80360"/>
            <a:ext cx="316077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실패 단계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593592"/>
            <a:ext cx="3160776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Job ID·요청번호·UNC·오류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실제 그룹·ACL과 단계 비교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API 성공·BUS 실패 구분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3775" y="2240280"/>
            <a:ext cx="358140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4088" y="2441448"/>
            <a:ext cx="316077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02  조치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4088" y="2880360"/>
            <a:ext cx="316077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원인 해결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4088" y="3593592"/>
            <a:ext cx="3160776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누락 폴더·서비스 계정 점검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시간 초과 설정·부분 적용 확인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불확실 Job 중복 실행 금지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4632" y="2240280"/>
            <a:ext cx="358140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4944" y="2441448"/>
            <a:ext cx="316077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03  재실행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4944" y="2880360"/>
            <a:ext cx="316077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선택 실행 →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4944" y="3593592"/>
            <a:ext cx="3160776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새 Job으로 실패 단계부터 처리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기존 성공 단계·부모 이력 보존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프로젝트 전용 /retry는 없음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0584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962FF"/>
                </a:solidFill>
                <a:latin typeface="Noto Sans CJK KR"/>
              </a:defRPr>
            </a:pPr>
            <a:r>
              <a:t>FOLDER GRANT  /  DEVELOPMENT COMPLETION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11155680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4233D"/>
                </a:solidFill>
                <a:latin typeface="Noto Sans CJK KR"/>
              </a:defRPr>
            </a:pPr>
            <a:r>
              <a:t>오픈 전 필요한 환경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90472"/>
            <a:ext cx="1097280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0718A"/>
                </a:solidFill>
                <a:latin typeface="Noto Sans CJK KR"/>
              </a:defRPr>
            </a:pPr>
            <a:r>
              <a:t>설치·권한·연결과 비밀정보 취급을 인수인계합니다.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0789920" cy="2011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0718A"/>
                </a:solidFill>
                <a:latin typeface="Noto Sans CJK KR"/>
              </a:defRPr>
            </a:pPr>
            <a:r>
              <a:t>2026-10-26  ·  API 0.4.0 / Client V1.1.0 Build:20261022  ·  main ebbdfb9d4b8f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502920" cy="228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18A"/>
                </a:solidFill>
                <a:latin typeface="Noto Sans CJK KR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40280"/>
            <a:ext cx="5481828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441448"/>
            <a:ext cx="5061204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80360"/>
            <a:ext cx="5061204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API 운영 환경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593592"/>
            <a:ext cx="5061204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Windows·Python·AD 모듈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전용 서비스 계정·공유/NTFS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서비스·DB·템플릿·키·포트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4204" y="2240280"/>
            <a:ext cx="5481828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4516" y="2441448"/>
            <a:ext cx="5061204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DESKTOP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4516" y="2880360"/>
            <a:ext cx="5061204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Client 배포 환경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4516" y="3593592"/>
            <a:ext cx="5061204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Windows·Python·Chrome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BUS/API 연결·드라이버 준비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assets·설정·로그 경로 쓰기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0584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962FF"/>
                </a:solidFill>
                <a:latin typeface="Noto Sans CJK KR"/>
              </a:defRPr>
            </a:pPr>
            <a:r>
              <a:t>FOLDER GRANT  /  DEVELOPMENT COMPLETION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11155680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4233D"/>
                </a:solidFill>
                <a:latin typeface="Noto Sans CJK KR"/>
              </a:defRPr>
            </a:pPr>
            <a:r>
              <a:t>운영·보안·장시간 작업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90472"/>
            <a:ext cx="1097280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0718A"/>
                </a:solidFill>
                <a:latin typeface="Noto Sans CJK KR"/>
              </a:defRPr>
            </a:pPr>
            <a:r>
              <a:t>기본 설정과 운영자가 별도로 마련할 절차입니다.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0789920" cy="2011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0718A"/>
                </a:solidFill>
                <a:latin typeface="Noto Sans CJK KR"/>
              </a:defRPr>
            </a:pPr>
            <a:r>
              <a:t>2026-10-26  ·  API 0.4.0 / Client V1.1.0 Build:20261022  ·  main ebbdfb9d4b8f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502920" cy="228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18A"/>
                </a:solidFill>
                <a:latin typeface="Noto Sans CJK KR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40280"/>
            <a:ext cx="358140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441448"/>
            <a:ext cx="316077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WAIT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80360"/>
            <a:ext cx="316077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서로 다른 제한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593592"/>
            <a:ext cx="3160776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HTTP 30초 / 조회 최대 4시간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PowerShell 단계 10800초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읽기 전용 검증 20초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3775" y="2240280"/>
            <a:ext cx="358140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4088" y="2441448"/>
            <a:ext cx="316077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RECORD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4088" y="2880360"/>
            <a:ext cx="316077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로그와 추적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4088" y="3593592"/>
            <a:ext cx="3160776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화면은 요약, 파일은 상세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access.log 한 파일 누적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서버 UTC·PC 로컬 시각 비교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4632" y="2240280"/>
            <a:ext cx="358140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4944" y="2441448"/>
            <a:ext cx="316077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4944" y="2880360"/>
            <a:ext cx="316077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현재 보안 경계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4944" y="3593592"/>
            <a:ext cx="3160776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공유 X-API-Key 인증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키·저장 암호는 평문 파일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접근 범위·HTTPS 별도 구성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0584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962FF"/>
                </a:solidFill>
                <a:latin typeface="Noto Sans CJK KR"/>
              </a:defRPr>
            </a:pPr>
            <a:r>
              <a:t>FOLDER GRANT  /  DEVELOPMENT COMPLETION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11155680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4233D"/>
                </a:solidFill>
                <a:latin typeface="Noto Sans CJK KR"/>
              </a:defRPr>
            </a:pPr>
            <a:r>
              <a:t>검증 결과와 증거 범위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90472"/>
            <a:ext cx="1097280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0718A"/>
                </a:solidFill>
                <a:latin typeface="Noto Sans CJK KR"/>
              </a:defRPr>
            </a:pPr>
            <a:r>
              <a:t>2026-10-26 / main ebbdfb9d4b8f 기준 자동 시험을 다시 실행했습니다.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0789920" cy="2011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0718A"/>
                </a:solidFill>
                <a:latin typeface="Noto Sans CJK KR"/>
              </a:defRPr>
            </a:pPr>
            <a:r>
              <a:t>2026-10-26  ·  API 0.4.0 / Client V1.1.0 Build:20261022  ·  main ebbdfb9d4b8f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502920" cy="228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18A"/>
                </a:solidFill>
                <a:latin typeface="Noto Sans CJK KR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40280"/>
            <a:ext cx="5481828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441448"/>
            <a:ext cx="5061204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80360"/>
            <a:ext cx="5061204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76개 통과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593592"/>
            <a:ext cx="5061204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계약·계획·검증·취소·재실행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선택 PowerShell 시험 5개 제외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실제 AD·SMB 변경 시험 아님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4204" y="2240280"/>
            <a:ext cx="5481828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4516" y="2441448"/>
            <a:ext cx="5061204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4516" y="2880360"/>
            <a:ext cx="5061204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125개 통과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4516" y="3593592"/>
            <a:ext cx="5061204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완료 차단·UI·스레드·진행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상세 열·프로젝트 완료 재확인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외부 API/BUS는 테스트 대역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080760"/>
            <a:ext cx="1078992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60718A"/>
                </a:solidFill>
                <a:latin typeface="Noto Sans CJK KR"/>
              </a:defRPr>
            </a:pPr>
            <a:r>
              <a:t>Word·PPT는 구조 검사와 PDF 변환 후 배치를 확인합니다. 실제 업무 인수 시험은 운영자가 기록합니다.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0584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962FF"/>
                </a:solidFill>
                <a:latin typeface="Noto Sans CJK KR"/>
              </a:defRPr>
            </a:pPr>
            <a:r>
              <a:t>FOLDER GRANT  /  DEVELOPMENT COMPLETION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11155680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4233D"/>
                </a:solidFill>
                <a:latin typeface="Noto Sans CJK KR"/>
              </a:defRPr>
            </a:pPr>
            <a:r>
              <a:t>현장 인수와 오픈 전환 순서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90472"/>
            <a:ext cx="1097280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0718A"/>
                </a:solidFill>
                <a:latin typeface="Noto Sans CJK KR"/>
              </a:defRPr>
            </a:pPr>
            <a:r>
              <a:t>완료 보고는 오픈 승인 자체를 대신하지 않습니다.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0789920" cy="2011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0718A"/>
                </a:solidFill>
                <a:latin typeface="Noto Sans CJK KR"/>
              </a:defRPr>
            </a:pPr>
            <a:r>
              <a:t>2026-10-26  ·  API 0.4.0 / Client V1.1.0 Build:20261022  ·  main ebbdfb9d4b8f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502920" cy="228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18A"/>
                </a:solidFill>
                <a:latin typeface="Noto Sans CJK KR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40280"/>
            <a:ext cx="358140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441448"/>
            <a:ext cx="316077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80360"/>
            <a:ext cx="316077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환경·연결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593592"/>
            <a:ext cx="3160776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서비스 계정·방화벽·DB 백업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Mock과 실제 시험 환경 분리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3775" y="2240280"/>
            <a:ext cx="358140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4088" y="2441448"/>
            <a:ext cx="316077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4088" y="2880360"/>
            <a:ext cx="316077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실제 소량 시험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4088" y="3593592"/>
            <a:ext cx="3160776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자동 완료 OFF → 실제 자원 확인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실패·재실행·완료 재확인 시험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4632" y="2240280"/>
            <a:ext cx="358140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4944" y="2441448"/>
            <a:ext cx="3160776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4944" y="2880360"/>
            <a:ext cx="3160776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승인 후 범위 확대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4944" y="3593592"/>
            <a:ext cx="3160776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담당자·문의 경로·중단 기준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인수 결과·미결·승인 기록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0584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962FF"/>
                </a:solidFill>
                <a:latin typeface="Noto Sans CJK KR"/>
              </a:defRPr>
            </a:pPr>
            <a:r>
              <a:t>FOLDER GRANT  /  DEVELOPMENT COMPLETION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11155680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4233D"/>
                </a:solidFill>
                <a:latin typeface="Noto Sans CJK KR"/>
              </a:defRPr>
            </a:pPr>
            <a:r>
              <a:t>업데이트·장애·복구 시 운영 원칙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90472"/>
            <a:ext cx="1097280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0718A"/>
                </a:solidFill>
                <a:latin typeface="Noto Sans CJK KR"/>
              </a:defRPr>
            </a:pPr>
            <a:r>
              <a:t>서비스 재시작이 작업 복구나 권한 롤백을 뜻하지 않습니다.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0789920" cy="2011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0718A"/>
                </a:solidFill>
                <a:latin typeface="Noto Sans CJK KR"/>
              </a:defRPr>
            </a:pPr>
            <a:r>
              <a:t>2026-10-26  ·  API 0.4.0 / Client V1.1.0 Build:20261022  ·  main ebbdfb9d4b8f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502920" cy="228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18A"/>
                </a:solidFill>
                <a:latin typeface="Noto Sans CJK KR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40280"/>
            <a:ext cx="5481828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441448"/>
            <a:ext cx="5061204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UPDATE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80360"/>
            <a:ext cx="5061204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작업 종료 후 배포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593592"/>
            <a:ext cx="5061204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접수 중단·활성 Job 확인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서비스 중지·코드/DB/설정 백업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호환 버전 갱신 후 단계별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4204" y="2240280"/>
            <a:ext cx="5481828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4516" y="2441448"/>
            <a:ext cx="5061204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INCIDENT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4516" y="2880360"/>
            <a:ext cx="5061204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실제 자원과 대조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4516" y="3593592"/>
            <a:ext cx="5061204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기존 Job·잔존 PowerShell 조사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부분 변경·BUS 상태 분리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코드·DB 복원만으로 ACL 복구 안 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0584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8DB1FF"/>
                </a:solidFill>
                <a:latin typeface="Noto Sans CJK KR"/>
              </a:defRPr>
            </a:pPr>
            <a:r>
              <a:t>FOLDER GRANT  /  DEVELOPMENT COMPLETION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11155680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FFFFF"/>
                </a:solidFill>
                <a:latin typeface="Noto Sans CJK KR"/>
              </a:defRPr>
            </a:pPr>
            <a:r>
              <a:t>현재 제한과 후속 개선 과제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90472"/>
            <a:ext cx="1097280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B7C7DF"/>
                </a:solidFill>
                <a:latin typeface="Noto Sans CJK KR"/>
              </a:defRPr>
            </a:pPr>
            <a:r>
              <a:t>아래 항목은 이번 릴리스의 구현 완료 기능이 아닙니다.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0789920" cy="2011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B7C7DF"/>
                </a:solidFill>
                <a:latin typeface="Noto Sans CJK KR"/>
              </a:defRPr>
            </a:pPr>
            <a:r>
              <a:t>2026-10-26  ·  API 0.4.0 / Client V1.1.0 Build:20261022  ·  main ebbdfb9d4b8f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502920" cy="228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7C7DF"/>
                </a:solidFill>
                <a:latin typeface="Noto Sans CJK KR"/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40280"/>
            <a:ext cx="5481828" cy="3611880"/>
          </a:xfrm>
          <a:prstGeom prst="roundRect">
            <a:avLst>
              <a:gd name="adj" fmla="val 8000"/>
            </a:avLst>
          </a:prstGeom>
          <a:solidFill>
            <a:srgbClr val="20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441448"/>
            <a:ext cx="5061204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8DB1FF"/>
                </a:solidFill>
                <a:latin typeface="Noto Sans CJK KR"/>
              </a:defRPr>
            </a:pPr>
            <a:r>
              <a:t>CURRENT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80360"/>
            <a:ext cx="5061204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  <a:latin typeface="Noto Sans CJK KR"/>
              </a:defRPr>
            </a:pPr>
            <a:r>
              <a:t>운영 시 알고 쓸 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593592"/>
            <a:ext cx="5061204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D1DDEF"/>
                </a:solidFill>
                <a:latin typeface="Noto Sans CJK KR"/>
              </a:defRPr>
            </a:pPr>
            <a:r>
              <a:t>프로세스 내 BackgroundTasks</a:t>
            </a:r>
          </a:p>
          <a:p>
            <a:pPr>
              <a:spcAft>
                <a:spcPts val="800"/>
              </a:spcAft>
              <a:defRPr sz="1600" b="0">
                <a:solidFill>
                  <a:srgbClr val="D1DDEF"/>
                </a:solidFill>
                <a:latin typeface="Noto Sans CJK KR"/>
              </a:defRPr>
            </a:pPr>
            <a:r>
              <a:t>재시작 후 진행 Job 복구 없음</a:t>
            </a:r>
          </a:p>
          <a:p>
            <a:pPr>
              <a:spcAft>
                <a:spcPts val="800"/>
              </a:spcAft>
              <a:defRPr sz="1600" b="0">
                <a:solidFill>
                  <a:srgbClr val="D1DDEF"/>
                </a:solidFill>
                <a:latin typeface="Noto Sans CJK KR"/>
              </a:defRPr>
            </a:pPr>
            <a:r>
              <a:t>자동 롤백·로그 순환 없음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4204" y="2240280"/>
            <a:ext cx="5481828" cy="3611880"/>
          </a:xfrm>
          <a:prstGeom prst="roundRect">
            <a:avLst>
              <a:gd name="adj" fmla="val 8000"/>
            </a:avLst>
          </a:prstGeom>
          <a:solidFill>
            <a:srgbClr val="203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4516" y="2441448"/>
            <a:ext cx="5061204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8DB1FF"/>
                </a:solidFill>
                <a:latin typeface="Noto Sans CJK KR"/>
              </a:defRPr>
            </a:pPr>
            <a: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4516" y="2880360"/>
            <a:ext cx="5061204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FFFFF"/>
                </a:solidFill>
                <a:latin typeface="Noto Sans CJK KR"/>
              </a:defRPr>
            </a:pPr>
            <a:r>
              <a:t>별도 개선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4516" y="3593592"/>
            <a:ext cx="5061204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D1DDEF"/>
                </a:solidFill>
                <a:latin typeface="Noto Sans CJK KR"/>
              </a:defRPr>
            </a:pPr>
            <a:r>
              <a:t>외부 Worker·내구성 큐·복구</a:t>
            </a:r>
          </a:p>
          <a:p>
            <a:pPr>
              <a:spcAft>
                <a:spcPts val="800"/>
              </a:spcAft>
              <a:defRPr sz="1600" b="0">
                <a:solidFill>
                  <a:srgbClr val="D1DDEF"/>
                </a:solidFill>
                <a:latin typeface="Noto Sans CJK KR"/>
              </a:defRPr>
            </a:pPr>
            <a:r>
              <a:t>개인 인증·권한·실행 잠금</a:t>
            </a:r>
          </a:p>
          <a:p>
            <a:pPr>
              <a:spcAft>
                <a:spcPts val="800"/>
              </a:spcAft>
              <a:defRPr sz="1600" b="0">
                <a:solidFill>
                  <a:srgbClr val="D1DDEF"/>
                </a:solidFill>
                <a:latin typeface="Noto Sans CJK KR"/>
              </a:defRPr>
            </a:pPr>
            <a:r>
              <a:t>새 요청 자동 감지는 현재 보류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0584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962FF"/>
                </a:solidFill>
                <a:latin typeface="Noto Sans CJK KR"/>
              </a:defRPr>
            </a:pPr>
            <a:r>
              <a:t>FOLDER GRANT  /  DEVELOPMENT COMPLETION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11155680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4233D"/>
                </a:solidFill>
                <a:latin typeface="Noto Sans CJK KR"/>
              </a:defRPr>
            </a:pPr>
            <a:r>
              <a:t>개발 산출물과 인수인계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90472"/>
            <a:ext cx="1097280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0718A"/>
                </a:solidFill>
                <a:latin typeface="Noto Sans CJK KR"/>
              </a:defRPr>
            </a:pPr>
            <a:r>
              <a:t>최신 운영본과 사용자가 수정한 기존 베타본을 함께 보존합니다.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0789920" cy="2011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60718A"/>
                </a:solidFill>
                <a:latin typeface="Noto Sans CJK KR"/>
              </a:defRPr>
            </a:pPr>
            <a:r>
              <a:t>2026-10-26  ·  API 0.4.0 / Client V1.1.0 Build:20261022  ·  main ebbdfb9d4b8f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502920" cy="228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0718A"/>
                </a:solidFill>
                <a:latin typeface="Noto Sans CJK KR"/>
              </a:defRPr>
            </a:pPr>
            <a: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40280"/>
            <a:ext cx="5481828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441448"/>
            <a:ext cx="5061204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WORD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80360"/>
            <a:ext cx="5061204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설계·운영 기준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593592"/>
            <a:ext cx="5061204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API 설계·운영·유지보수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Client 설계·사용·유지보수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오픈·운영 인수인계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4204" y="2240280"/>
            <a:ext cx="5481828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4516" y="2441448"/>
            <a:ext cx="5061204" cy="3200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962FF"/>
                </a:solidFill>
                <a:latin typeface="Noto Sans CJK KR"/>
              </a:defRPr>
            </a:pPr>
            <a:r>
              <a:t>PPT / README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4516" y="2880360"/>
            <a:ext cx="5061204" cy="5943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4233D"/>
                </a:solidFill>
                <a:latin typeface="Noto Sans CJK KR"/>
              </a:defRPr>
            </a:pPr>
            <a:r>
              <a:t>설명·완료 보고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4516" y="3593592"/>
            <a:ext cx="5061204" cy="21031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프로그램 소개서 갱신본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개발 완료 보고서</a:t>
            </a:r>
          </a:p>
          <a:p>
            <a:pPr>
              <a:spcAft>
                <a:spcPts val="800"/>
              </a:spcAft>
              <a:defRPr sz="1600" b="0">
                <a:solidFill>
                  <a:srgbClr val="60718A"/>
                </a:solidFill>
                <a:latin typeface="Noto Sans CJK KR"/>
              </a:defRPr>
            </a:pPr>
            <a:r>
              <a:t>설치·기능·제한·체크리스트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05840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8DB1FF"/>
                </a:solidFill>
                <a:latin typeface="Noto Sans CJK KR"/>
              </a:defRPr>
            </a:pPr>
            <a:r>
              <a:t>FOLDER GRANT  /  DEVELOPMENT COMPLETION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04672"/>
            <a:ext cx="11155680" cy="640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FFFFF"/>
                </a:solidFill>
                <a:latin typeface="Noto Sans CJK KR"/>
              </a:defRPr>
            </a:pPr>
            <a:r>
              <a:t>개발 범위 구현 완료 · 운영 인수 준비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90472"/>
            <a:ext cx="10972800" cy="5029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B7C7DF"/>
                </a:solidFill>
                <a:latin typeface="Noto Sans CJK KR"/>
              </a:defRPr>
            </a:pPr>
            <a:r>
              <a:t>실제 환경 시험 결과와 승인 기록을 남긴 뒤 내부 오픈을 진행합니다.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0789920" cy="201168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800" b="0">
                <a:solidFill>
                  <a:srgbClr val="B7C7DF"/>
                </a:solidFill>
                <a:latin typeface="Noto Sans CJK KR"/>
              </a:defRPr>
            </a:pPr>
            <a:r>
              <a:t>2026-10-26  ·  API 0.4.0 / Client V1.1.0 Build:20261022  ·  main ebbdfb9d4b8f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502920" cy="2286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7C7DF"/>
                </a:solidFill>
                <a:latin typeface="Noto Sans CJK KR"/>
              </a:defRPr>
            </a:pPr>
            <a: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10789920" cy="11887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FFFFF"/>
                </a:solidFill>
                <a:latin typeface="Noto Sans CJK KR"/>
              </a:defRPr>
            </a:pPr>
            <a:r>
              <a:t>다음 단계는 현장 인수입니다.</a:t>
            </a:r>
          </a:p>
          <a:p>
            <a:pPr>
              <a:spcAft>
                <a:spcPts val="800"/>
              </a:spcAft>
              <a:defRPr sz="3100" b="1">
                <a:solidFill>
                  <a:srgbClr val="FFFFFF"/>
                </a:solidFill>
                <a:latin typeface="Noto Sans CJK KR"/>
              </a:defRPr>
            </a:pPr>
            <a:r>
              <a:t>담당자·대상·오픈 범위를 확정합니다.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43400"/>
            <a:ext cx="10607040" cy="10058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B7C7DF"/>
                </a:solidFill>
                <a:latin typeface="Noto Sans CJK KR"/>
              </a:defRPr>
            </a:pPr>
            <a:r>
              <a:t>확인 항목: 실제 AD/ACL · BUS 완료 · 실패 복구 · 백업</a:t>
            </a:r>
          </a:p>
          <a:p>
            <a:pPr>
              <a:spcAft>
                <a:spcPts val="800"/>
              </a:spcAft>
              <a:defRPr sz="2000" b="0">
                <a:solidFill>
                  <a:srgbClr val="B7C7DF"/>
                </a:solidFill>
                <a:latin typeface="Noto Sans CJK KR"/>
              </a:defRPr>
            </a:pPr>
            <a:r>
              <a:t>기록 위치: docs/오픈_운영_인수인계.docx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Folder Grant 개발 완료 보고서</dc:title>
  <dc:subject>구현 범위·검증 결과·내부 오픈·운영 인수 / 2026-10-26</dc:subject>
  <dc:creator>Folder Grant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